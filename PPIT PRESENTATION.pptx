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86" r:id="rId6"/>
    <p:sldId id="260" r:id="rId7"/>
    <p:sldId id="258" r:id="rId8"/>
    <p:sldId id="261" r:id="rId9"/>
    <p:sldId id="287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12/24/2024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12/24/2024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3E6CE-3E68-30DD-451D-A4543DDB35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8EA7BD-21B8-2062-822D-11C7DF6DDE4D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0E4AED5-ECCA-8855-CC07-0FA1D80B345F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5A2A08A-22E2-8D8C-63DD-1C957BF92592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886B305-5600-A50C-F5BE-EDB2505E27D2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CC52E29-E4BB-A12A-4281-4A81EA116938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662914A6-3954-AA8F-9D0D-AFAA2FBF64E2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29C5CD0A-5BF6-6081-797B-AF29BE9FB5EC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7C8BEFC-AA16-3971-C1FC-AF7E74DBBE36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D01E6873-0EF1-504D-24BC-21C623A94969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9FFE5-111E-75EF-E29B-EEC2BBCA3E94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A80008-A8D0-EF0A-6F46-B8213AE1DD6A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44CE57E-45D0-6786-07B6-3801BB82CF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620E988-6119-56FE-9EE7-AA7BE0BDC9EB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5" name="Freeform: Shape 12">
                <a:extLst>
                  <a:ext uri="{FF2B5EF4-FFF2-40B4-BE49-F238E27FC236}">
                    <a16:creationId xmlns:a16="http://schemas.microsoft.com/office/drawing/2014/main" id="{B23180D7-A849-BBDD-C8B9-397033368A12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548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4C9F6E-C636-5FAF-65F7-4628460A5636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24F7B1-2F0C-535C-9962-361214153A0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879D02-3FFD-F46C-8925-E9A208664803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5D53A11-777F-0556-4DD3-3157EC196FF4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147D25D-B5AF-56AB-1CE6-81427BA648FD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36D24E-768D-2DA4-BFDF-FFA728CD6038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5CF105-9A09-8BD2-B517-C11994E8F6C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1EC6820-104B-D311-7C73-75B7C0C85E7C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AEB4C8-0ABD-BD38-384E-7FA15F88CB39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2CB5FF74-77CC-770F-0C8D-730DD64679A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05DF6E9F-AA1A-156C-AE1A-D53D653D2866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90135E5-91DB-11AC-58D3-92E338266A7E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350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C05D0A-3250-08CB-0CA5-73361AB2E9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0C6F5D7-B005-AD6C-0E82-84D74D46412E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649859A-2029-7F65-6BBA-679293848EC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108ECA5D-67E9-C206-61D3-716F68345A6F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40841CB-E30F-3C82-3783-AF392EF1F0FA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67C02CC-A88D-616B-D44D-00D5BEE1C270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88A2A3B-9FEE-BB93-A757-CBE0BF390A1D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01BD35-43F9-138E-64A0-E87DCDDE3593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D55DA6B-74F3-D9B7-DD60-91BFC90ECF41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E50CCD3-9853-A292-1DB6-BDB8DBBBE739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C40B2B-C73D-EB0A-C20C-97B266F881EE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3274B96-BDB5-E38E-2EBB-F94D06584BD4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31846E-586B-8522-88D1-D0BFEEE9867D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C39254E-0348-C6BC-CA86-BDC14B9C208F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69AD41A-FD25-8353-246A-D083A3359FB9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65557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65782E-5F78-9D82-2ABA-202E090BC74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A917BA-DA11-DEC7-E1AF-FA1A7F749002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B702E57-BEAC-2042-C4F4-047EE7625968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ADDC49C-AAFC-EBFF-DBB1-DCBF5CEBF66A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2C209DF-1A9A-D160-AD2D-587B9DAD1117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B532FA-EDF6-D4E5-5F4F-077CD71A2CC8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3A36BD-A5F7-4B60-CC18-3114E0A3C0AF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143AA6A-CAB8-F0BF-1749-1332E79AC345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9205EB-4ADC-3FA1-4380-8D018CC80DDB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341D0FF8-FF55-3988-AF89-54A0F77A4771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00717A41-1C0C-6215-221D-C97965F27992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151BA9-39A4-8B4F-868D-B5F2A7C2CCF5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6128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F4907F-F398-C8A7-389A-E0EEB2A187E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055577-A04A-935B-66E7-8C51B07688D7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082905B-7D42-3472-32F8-2DB9643A8C9A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82629FF-02ED-0CA3-B077-89CCDD380B8F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B21E138-43FA-E151-DDED-1C5CDE93D4F3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9300BE-3726-3023-7B17-5168203D99E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5021A17-50A8-5AE1-BC26-4BD5AF2AEA6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A69546E-3A39-F533-9B92-723840575683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B4E70C-C195-B060-8948-1AFCD86F03A3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F4755289-D48C-996B-A25E-BBC00E200408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C196921A-BC3F-8E09-2A13-A7C00A9FE5B4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8483BDE-9F36-7F14-BAC6-366E960B66A1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1601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76F3A-91EA-D184-CFC5-F9970F7A1516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C5E138B-FE34-14FF-585C-6E091068BED1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DD59D15-0385-28FC-2F07-044EADC5A3E5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C6E3B3-D2DF-0654-46A7-88C03FFB2017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54DF58F-A78E-2906-24C6-F37C4CDF8076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609F78-B929-744E-B52D-0ABF8A8354F7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94422B1-362C-44BC-31E0-E864E6820DAB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2F3D574-5A4A-D110-E1F7-FD48996B948D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E332BE-D732-98E4-17D4-AD05D40B21D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5" name="Rectangle: Single Corner Snipped 14">
              <a:extLst>
                <a:ext uri="{FF2B5EF4-FFF2-40B4-BE49-F238E27FC236}">
                  <a16:creationId xmlns:a16="http://schemas.microsoft.com/office/drawing/2014/main" id="{A6D75773-784E-E7A3-4379-99ED5283C82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E133AFC1-A61E-A609-E750-7B7EE8F4E7C8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0924343-A3D7-7651-8E80-B203033D3CE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9577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F8D9A8-3721-6140-1AF2-1DEE925E3DD3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3B46F397-465A-91F1-63AE-FED4817136FE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F181FCEF-AE06-E695-5602-EECAEC52A2D2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9293D3C9-4F64-AD1F-A9D8-C82B923FE972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448450A0-99AF-B9CF-17A6-571234A26FD5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9371FF-E3BF-D145-573C-698B2E6AC6DA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97BD107D-5EA0-ECED-4566-400422CF5186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287E9925-69A6-FA64-90D3-00B0480FB4D1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33B76541-A971-FB0C-2B88-CC3431935536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782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E08C4-6DD1-14D5-B9E4-4A757E9CE5A9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8878B9D-8CF8-728D-C540-247535F9F65C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CFFCBE-2372-01D2-670C-782BF57C3A33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985667-7ECF-719B-23F2-CB94FA44A192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B14D29-08F8-F37B-2CD8-E3BC76E48067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4BDF65-DD71-E018-5689-A44403F42D6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9941225-3894-8A3C-4CB9-A12087342D9B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1984B86-5BFB-CCBE-C5EE-823A32BBF53C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BE071A-1F46-EB54-BFE9-A91EA6D9404C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B8BCB5CB-A2F1-F238-B8DC-6BF894B59BCF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90242AA6-8B92-31EE-9B26-5CC3FCE0B190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3674581-1781-5B8B-EC4D-CECF99E150A4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486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E4EBD-4517-BD03-828C-5333B6E4D52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CD9DD2F-3309-F283-6035-97A79003E771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A790E51-C39B-4A1C-AEC5-681D584EB59F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64C0223-948E-C574-0381-2F49DD613024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567995B-D6B0-099E-DE8C-FD2BAA581043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3C8DB6-EDB5-1561-89FC-B7672D4936C4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B0B349B-A0D7-3204-7493-21E8F2EA9449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EC5D2FF-0875-A15F-3516-B26EC3D5A211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85C9BC-4541-18EA-8320-9A23C7033164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0F75897C-4C55-26C5-B9C4-8F425448AD11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30BB505F-0557-5FC6-D650-130F37111A1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246D2E3-6673-A690-2154-FD586B3A0454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726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902492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985243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507958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748385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215723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374023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293781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995585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974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3777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09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12/24/2024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07EDB0-66A9-B544-5618-564E01C0586B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9">
            <a:extLst>
              <a:ext uri="{FF2B5EF4-FFF2-40B4-BE49-F238E27FC236}">
                <a16:creationId xmlns:a16="http://schemas.microsoft.com/office/drawing/2014/main" id="{4A0D939F-E6E8-E854-F04C-95C3ADDB1944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4D98D951-0E6C-7FD5-8F94-FB643E3DF1C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66BA04BD-0C44-CF43-314E-B5A36F977C23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7">
            <a:extLst>
              <a:ext uri="{FF2B5EF4-FFF2-40B4-BE49-F238E27FC236}">
                <a16:creationId xmlns:a16="http://schemas.microsoft.com/office/drawing/2014/main" id="{50E3A1A8-E62E-30F4-BC96-3932E27DD9AF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2BD085F-F67E-D2CB-2EB0-7CC8A3558A67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A0275F-E962-6097-AD77-B2D973D3294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5">
              <a:extLst>
                <a:ext uri="{FF2B5EF4-FFF2-40B4-BE49-F238E27FC236}">
                  <a16:creationId xmlns:a16="http://schemas.microsoft.com/office/drawing/2014/main" id="{D7EB73C9-BA7C-906D-B677-A3B359BDFE7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6">
              <a:extLst>
                <a:ext uri="{FF2B5EF4-FFF2-40B4-BE49-F238E27FC236}">
                  <a16:creationId xmlns:a16="http://schemas.microsoft.com/office/drawing/2014/main" id="{D8327E36-17FF-4E87-F895-8DAD3BA7EC45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E44C80-2D72-CB08-E762-E1707D87BC92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8">
              <a:extLst>
                <a:ext uri="{FF2B5EF4-FFF2-40B4-BE49-F238E27FC236}">
                  <a16:creationId xmlns:a16="http://schemas.microsoft.com/office/drawing/2014/main" id="{CEFF64EA-1668-957F-0092-6C3AF09DCE5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8" name="Rectangle: Single Corner Snipped 2">
              <a:extLst>
                <a:ext uri="{FF2B5EF4-FFF2-40B4-BE49-F238E27FC236}">
                  <a16:creationId xmlns:a16="http://schemas.microsoft.com/office/drawing/2014/main" id="{F21A432E-13D6-2442-5807-004F3D37879D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23">
            <a:extLst>
              <a:ext uri="{FF2B5EF4-FFF2-40B4-BE49-F238E27FC236}">
                <a16:creationId xmlns:a16="http://schemas.microsoft.com/office/drawing/2014/main" id="{3C3B13E5-785E-5B90-5081-7E5EE5EC326C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2F5B81B3-3F90-4E64-C830-0F74D6EF2BB9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4891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20" r:id="rId19"/>
    <p:sldLayoutId id="2147483722" r:id="rId20"/>
    <p:sldLayoutId id="2147483651" r:id="rId21"/>
    <p:sldLayoutId id="2147483661" r:id="rId22"/>
    <p:sldLayoutId id="2147483674" r:id="rId23"/>
    <p:sldLayoutId id="2147483665" r:id="rId24"/>
    <p:sldLayoutId id="2147483673" r:id="rId25"/>
    <p:sldLayoutId id="2147483675" r:id="rId26"/>
    <p:sldLayoutId id="2147483676" r:id="rId27"/>
    <p:sldLayoutId id="2147483672" r:id="rId2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486" y="1117601"/>
            <a:ext cx="8157028" cy="186259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 Black" panose="020B0A04020102020204" pitchFamily="34" charset="0"/>
              </a:rPr>
              <a:t>Intellectual Property Online:</a:t>
            </a:r>
            <a:br>
              <a:rPr lang="en-US" sz="28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2800" dirty="0">
                <a:solidFill>
                  <a:schemeClr val="tx1"/>
                </a:solidFill>
                <a:latin typeface="Arial Black" panose="020B0A04020102020204" pitchFamily="34" charset="0"/>
              </a:rPr>
              <a:t> Is Strong Control Necessary or Even Possible?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285" y="4122057"/>
            <a:ext cx="4760685" cy="26124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REPRESENTED BY:</a:t>
            </a:r>
          </a:p>
          <a:p>
            <a:pPr marL="0" indent="0">
              <a:buNone/>
            </a:pPr>
            <a:r>
              <a:rPr lang="en-US" sz="3200" b="1" dirty="0"/>
              <a:t>MEHMOONA KANWAL </a:t>
            </a:r>
          </a:p>
          <a:p>
            <a:pPr marL="0" indent="0">
              <a:buNone/>
            </a:pPr>
            <a:r>
              <a:rPr lang="en-US" sz="3200" b="1" dirty="0"/>
              <a:t>TEHREEM QAYYUM </a:t>
            </a:r>
          </a:p>
          <a:p>
            <a:pPr marL="0" indent="0">
              <a:buNone/>
            </a:pPr>
            <a:r>
              <a:rPr lang="en-US" sz="3200" b="1" dirty="0"/>
              <a:t>ZAINAB KHAN</a:t>
            </a:r>
          </a:p>
        </p:txBody>
      </p:sp>
      <p:pic>
        <p:nvPicPr>
          <p:cNvPr id="1028" name="Picture 4" descr="Intellectual Property Rights Images - Free Download on Freepik">
            <a:extLst>
              <a:ext uri="{FF2B5EF4-FFF2-40B4-BE49-F238E27FC236}">
                <a16:creationId xmlns:a16="http://schemas.microsoft.com/office/drawing/2014/main" id="{11D8555E-77C2-6851-48E8-6DD39A203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514" y="0"/>
            <a:ext cx="3033485" cy="68580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8E6D9-13D8-6AA8-4F04-139A81BC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086" y="348326"/>
            <a:ext cx="7416800" cy="707886"/>
          </a:xfrm>
        </p:spPr>
        <p:txBody>
          <a:bodyPr/>
          <a:lstStyle/>
          <a:p>
            <a:pPr algn="r"/>
            <a:r>
              <a:rPr lang="en-US" sz="4000" dirty="0">
                <a:solidFill>
                  <a:schemeClr val="tx1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78899-BB62-E5AE-3872-B00CA716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D603169-B48F-B184-D43A-4F12FBCC84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86742" y="1492916"/>
            <a:ext cx="940525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intellectual property refers to creations of the mind, such as art, literature, music, inventions, and designs, that are legally protected as personal assets.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The internet is a platform for sharing creativity globally.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Provides opportunities for writers, musicians, and artists to showcase talent.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Intellectual creations are considered personal property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3075" name="Picture 3" descr="Unleashing the Power of Creativity: Ignite Your Imagination and Embrace  Innovation">
            <a:extLst>
              <a:ext uri="{FF2B5EF4-FFF2-40B4-BE49-F238E27FC236}">
                <a16:creationId xmlns:a16="http://schemas.microsoft.com/office/drawing/2014/main" id="{E15D1C07-CDEC-2F8E-476B-8F5F45AF3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2888343" cy="68580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86452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F75895D-F226-DF18-0FBA-71B35E602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" y="1658417"/>
            <a:ext cx="884857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appreciate and encourage creativity.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Others exploit talent unfairly, claiming it as their own.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digital age has made piracy and misuse easier.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AC5DE-7487-4E69-EE9E-E19BCD277FD2}"/>
              </a:ext>
            </a:extLst>
          </p:cNvPr>
          <p:cNvSpPr txBox="1"/>
          <p:nvPr/>
        </p:nvSpPr>
        <p:spPr>
          <a:xfrm>
            <a:off x="2827606" y="801858"/>
            <a:ext cx="6203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REALITY CHECK </a:t>
            </a:r>
          </a:p>
        </p:txBody>
      </p:sp>
      <p:pic>
        <p:nvPicPr>
          <p:cNvPr id="4100" name="Picture 4" descr="52,900+ Intellectual Property Stock Photos, Pictures &amp; Royalty-Free Images  - iStock | Innovation, Intellectual property law, Copyright icon">
            <a:extLst>
              <a:ext uri="{FF2B5EF4-FFF2-40B4-BE49-F238E27FC236}">
                <a16:creationId xmlns:a16="http://schemas.microsoft.com/office/drawing/2014/main" id="{338DDA09-7CA5-F2A9-A309-58936BC70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709" y="0"/>
            <a:ext cx="3782291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544" y="529071"/>
            <a:ext cx="7162800" cy="70788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Arial Black" panose="020B0A04020102020204" pitchFamily="34" charset="0"/>
              </a:rPr>
              <a:t>ISSUES &amp; CHALLENGES </a:t>
            </a:r>
          </a:p>
        </p:txBody>
      </p:sp>
      <p:pic>
        <p:nvPicPr>
          <p:cNvPr id="5124" name="Picture 4" descr="Intellectual Property Computer Photos and Images &amp; Pictures | Shutterstock">
            <a:extLst>
              <a:ext uri="{FF2B5EF4-FFF2-40B4-BE49-F238E27FC236}">
                <a16:creationId xmlns:a16="http://schemas.microsoft.com/office/drawing/2014/main" id="{6B5C61AD-84E6-0320-8BF0-164B98B145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29"/>
          <a:stretch/>
        </p:blipFill>
        <p:spPr bwMode="auto">
          <a:xfrm>
            <a:off x="9351818" y="223266"/>
            <a:ext cx="2687782" cy="292330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FC339C0-339D-3E63-F749-2438418FFC32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7041" y="1694219"/>
            <a:ext cx="914466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Ease of copying, reusing, and redistributing content illegally.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and file-sharing platforms enable unauthorized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Creators face significant financial losses.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tracking and removing pirated content quickly.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blockchain technology offer potential solutions for tracking and protecting intellectual property but are not yet widely adopted.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Cybercriminals exploit </a:t>
            </a:r>
            <a:r>
              <a:rPr lang="en-US" altLang="en-US" sz="2400" cap="non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CREATIVITY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personal gain.</a:t>
            </a:r>
          </a:p>
        </p:txBody>
      </p:sp>
      <p:pic>
        <p:nvPicPr>
          <p:cNvPr id="5129" name="Picture 9" descr="How Much Can I Quote From Another Source Without Permission? -">
            <a:extLst>
              <a:ext uri="{FF2B5EF4-FFF2-40B4-BE49-F238E27FC236}">
                <a16:creationId xmlns:a16="http://schemas.microsoft.com/office/drawing/2014/main" id="{7859B84D-F329-E1EA-8AD8-6935597AC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709" y="3565237"/>
            <a:ext cx="2867891" cy="335236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0836"/>
            <a:ext cx="9905998" cy="15240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ARGUMENTS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0" y="1856508"/>
            <a:ext cx="11928764" cy="545869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8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Arguments:</a:t>
            </a:r>
            <a:endParaRPr lang="en-US" sz="8600" dirty="0">
              <a:solidFill>
                <a:schemeClr val="tx1"/>
              </a:solidFill>
              <a:latin typeface="Arial Black" panose="020B0A040201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Protects creators' rights</a:t>
            </a:r>
            <a:r>
              <a:rPr lang="en-US" sz="5600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ensuring that their work is not exploited without permission.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Encourages innovation and creativity</a:t>
            </a:r>
            <a:r>
              <a:rPr lang="en-US" sz="5600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giving creators a legal framework to benefit from their ideas.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Promotes a fair digital economy</a:t>
            </a:r>
            <a:r>
              <a:rPr lang="en-US" sz="5600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preventing piracy and unauthorized distribution of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Maintains the integrity of content</a:t>
            </a:r>
            <a:r>
              <a:rPr lang="en-US" sz="5600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safeguarding original work from being misused or altered.</a:t>
            </a:r>
          </a:p>
          <a:p>
            <a:pPr marL="0" indent="0">
              <a:buNone/>
            </a:pPr>
            <a:r>
              <a:rPr lang="en-US" sz="8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Arguments:</a:t>
            </a:r>
            <a:endParaRPr lang="en-US" sz="8600" dirty="0">
              <a:solidFill>
                <a:schemeClr val="tx1"/>
              </a:solidFill>
              <a:latin typeface="Arial Black" panose="020B0A040201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 to fully control</a:t>
            </a:r>
            <a:r>
              <a:rPr lang="en-US" sz="5600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intellectual property on the internet due to the vast amount of content being uploaded daily.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Excessive control can stifle free expression</a:t>
            </a:r>
            <a:r>
              <a:rPr lang="en-US" sz="5600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limiting the sharing of ideas and innovation.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600" b="1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can be expensive</a:t>
            </a:r>
            <a:r>
              <a:rPr lang="en-US" sz="5600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difficult for smaller creators to enforce effectively.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8D33-F8DA-6E8F-F295-4622C720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69441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SOLUTIONS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FA3C29-D026-5F56-2947-1A1A9E62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9C333E6-CD98-CCF6-1242-431237F4AFC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70427" y="1417221"/>
            <a:ext cx="828386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cap="none" dirty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Update IP Laws</a:t>
            </a:r>
            <a:r>
              <a:rPr lang="en-US" altLang="en-US" sz="2400" cap="none" dirty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Align with digital realities and technological advancements.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cap="none" dirty="0"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Balance Protection &amp; Expression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Maintain free expression while safeguarding creators’ rights.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Technological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Use digital watermarks</a:t>
            </a:r>
            <a:r>
              <a:rPr lang="en-US" altLang="en-US" sz="2400" cap="none" dirty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to track and protect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Global Cooperation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Create a standardized global framework for IP protection.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Education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: Raise awareness about the importance of respecting intellectual property. </a:t>
            </a:r>
          </a:p>
        </p:txBody>
      </p:sp>
      <p:pic>
        <p:nvPicPr>
          <p:cNvPr id="7171" name="Picture 3" descr="Solutions to Real Problems - MaxPeople">
            <a:extLst>
              <a:ext uri="{FF2B5EF4-FFF2-40B4-BE49-F238E27FC236}">
                <a16:creationId xmlns:a16="http://schemas.microsoft.com/office/drawing/2014/main" id="{98157E76-CCA1-7696-455F-AE5D198B9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290" y="2646218"/>
            <a:ext cx="3837710" cy="469669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92374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127" y="1740250"/>
            <a:ext cx="9060873" cy="475738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Arial Black" panose="020B0A04020102020204" pitchFamily="34" charset="0"/>
              </a:rPr>
              <a:t>CONCLUSIONS:</a:t>
            </a:r>
            <a:br>
              <a:rPr lang="en-US" sz="40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br>
              <a:rPr lang="en-US" sz="11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br>
              <a:rPr lang="en-US" sz="11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br>
              <a:rPr lang="en-US" sz="11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br>
              <a:rPr lang="en-US" sz="11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br>
              <a:rPr lang="en-US" sz="11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The internet has transformed the sharing of intellectual property but has also created challenges .  While controlling IP on the internet is complex, it’s essential to protect creators’ rights . A balance must be struck between protecting intellectual property and ensuring free expression.</a:t>
            </a:r>
            <a:b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b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Final Thought: A fair digital economy where creativity thrives is achievable through updated laws, technology, and global cooperation.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6917B-FFE0-94E5-20BB-100BC5609926}"/>
              </a:ext>
            </a:extLst>
          </p:cNvPr>
          <p:cNvSpPr txBox="1"/>
          <p:nvPr/>
        </p:nvSpPr>
        <p:spPr>
          <a:xfrm>
            <a:off x="3006436" y="2872798"/>
            <a:ext cx="9185564" cy="3807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196" name="Picture 4" descr="Conclusión | misitio">
            <a:extLst>
              <a:ext uri="{FF2B5EF4-FFF2-40B4-BE49-F238E27FC236}">
                <a16:creationId xmlns:a16="http://schemas.microsoft.com/office/drawing/2014/main" id="{51AD49FB-87BB-EA02-2C70-3AE979765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54" y="2872796"/>
            <a:ext cx="2687781" cy="3985204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3636" y="277092"/>
            <a:ext cx="4918362" cy="23968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 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9218" name="Picture 2" descr="Annalee Newitz Quote: “When it came to intellectual property, justice was  simple and clear.”">
            <a:extLst>
              <a:ext uri="{FF2B5EF4-FFF2-40B4-BE49-F238E27FC236}">
                <a16:creationId xmlns:a16="http://schemas.microsoft.com/office/drawing/2014/main" id="{26AC01D6-B316-D606-6A31-5F694FF19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744" y="3332018"/>
            <a:ext cx="7024254" cy="3429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157</TotalTime>
  <Words>445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 Display</vt:lpstr>
      <vt:lpstr>Arial</vt:lpstr>
      <vt:lpstr>Arial Black</vt:lpstr>
      <vt:lpstr>Calibri</vt:lpstr>
      <vt:lpstr>Century Gothic</vt:lpstr>
      <vt:lpstr>Trade Gothic LT Pro</vt:lpstr>
      <vt:lpstr>Mesh</vt:lpstr>
      <vt:lpstr>Intellectual Property Online:  Is Strong Control Necessary or Even Possible?</vt:lpstr>
      <vt:lpstr>INTRODUCTION</vt:lpstr>
      <vt:lpstr>  Many appreciate and encourage creativity.  Others exploit talent unfairly, claiming it as their own.  The digital age has made piracy and misuse easier. </vt:lpstr>
      <vt:lpstr>ISSUES &amp; CHALLENGES </vt:lpstr>
      <vt:lpstr>ARGUMENTS </vt:lpstr>
      <vt:lpstr>SOLUTIONS</vt:lpstr>
      <vt:lpstr>CONCLUSIONS:      The internet has transformed the sharing of intellectual property but has also created challenges .  While controlling IP on the internet is complex, it’s essential to protect creators’ rights . A balance must be struck between protecting intellectual property and ensuring free expression.  Final Thought: A fair digital economy where creativity thrives is achievable through updated laws, technology, and global cooperation.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World Computers</dc:creator>
  <cp:lastModifiedBy>PC World Computers</cp:lastModifiedBy>
  <cp:revision>1</cp:revision>
  <dcterms:created xsi:type="dcterms:W3CDTF">2024-12-24T07:39:27Z</dcterms:created>
  <dcterms:modified xsi:type="dcterms:W3CDTF">2024-12-24T10:16:39Z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