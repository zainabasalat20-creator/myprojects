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84"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69" d="100"/>
          <a:sy n="69" d="100"/>
        </p:scale>
        <p:origin x="76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1835415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93420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1947342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DCDAF9-0C27-41CD-8930-D203687DB45D}" type="datetimeFigureOut">
              <a:rPr lang="en-US" smtClean="0"/>
              <a:t>5/23/2023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4075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DCDAF9-0C27-41CD-8930-D203687DB45D}" type="datetimeFigureOut">
              <a:rPr lang="en-US" smtClean="0"/>
              <a:t>5/23/2023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1076883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DCDAF9-0C27-41CD-8930-D203687DB45D}" type="datetimeFigureOut">
              <a:rPr lang="en-US" smtClean="0"/>
              <a:t>5/23/2023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850801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CDAF9-0C27-41CD-8930-D203687DB45D}" type="datetimeFigureOut">
              <a:rPr lang="en-US" smtClean="0"/>
              <a:t>5/23/2023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2628379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CDAF9-0C27-41CD-8930-D203687DB45D}" type="datetimeFigureOut">
              <a:rPr lang="en-US" smtClean="0"/>
              <a:t>5/23/2023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1519742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CDAF9-0C27-41CD-8930-D203687DB45D}" type="datetimeFigureOut">
              <a:rPr lang="en-US" smtClean="0"/>
              <a:t>5/23/2023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745224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CDAF9-0C27-41CD-8930-D203687DB45D}" type="datetimeFigureOut">
              <a:rPr lang="en-US" smtClean="0"/>
              <a:t>5/23/2023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1276649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891963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3081567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3329683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687152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3182849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3797050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CDAF9-0C27-41CD-8930-D203687DB45D}" type="datetimeFigureOut">
              <a:rPr lang="en-US" smtClean="0"/>
              <a:t>5/23/2023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62EAC4-1EE3-4C27-A9EC-55A0AAED6C60}" type="slidenum">
              <a:rPr lang="en-US" smtClean="0"/>
              <a:t>‹#›</a:t>
            </a:fld>
            <a:endParaRPr lang="en-US"/>
          </a:p>
        </p:txBody>
      </p:sp>
    </p:spTree>
    <p:extLst>
      <p:ext uri="{BB962C8B-B14F-4D97-AF65-F5344CB8AC3E}">
        <p14:creationId xmlns:p14="http://schemas.microsoft.com/office/powerpoint/2010/main" val="3532661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DCDAF9-0C27-41CD-8930-D203687DB45D}" type="datetimeFigureOut">
              <a:rPr lang="en-US" smtClean="0"/>
              <a:t>5/23/2023</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562EAC4-1EE3-4C27-A9EC-55A0AAED6C60}" type="slidenum">
              <a:rPr lang="en-US" smtClean="0"/>
              <a:t>‹#›</a:t>
            </a:fld>
            <a:endParaRPr lang="en-US"/>
          </a:p>
        </p:txBody>
      </p:sp>
    </p:spTree>
    <p:extLst>
      <p:ext uri="{BB962C8B-B14F-4D97-AF65-F5344CB8AC3E}">
        <p14:creationId xmlns:p14="http://schemas.microsoft.com/office/powerpoint/2010/main" val="7677513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16858-1FCF-DAFC-8FE2-35BC86D2456A}"/>
              </a:ext>
            </a:extLst>
          </p:cNvPr>
          <p:cNvSpPr>
            <a:spLocks noGrp="1"/>
          </p:cNvSpPr>
          <p:nvPr>
            <p:ph type="ctrTitle"/>
          </p:nvPr>
        </p:nvSpPr>
        <p:spPr/>
        <p:txBody>
          <a:bodyPr/>
          <a:lstStyle/>
          <a:p>
            <a:r>
              <a:rPr lang="en-US" dirty="0"/>
              <a:t>TESLA MOTORS</a:t>
            </a:r>
          </a:p>
        </p:txBody>
      </p:sp>
      <p:sp>
        <p:nvSpPr>
          <p:cNvPr id="3" name="Subtitle 2">
            <a:extLst>
              <a:ext uri="{FF2B5EF4-FFF2-40B4-BE49-F238E27FC236}">
                <a16:creationId xmlns:a16="http://schemas.microsoft.com/office/drawing/2014/main" id="{A4364659-E6D0-120A-02D4-A75551B53591}"/>
              </a:ext>
            </a:extLst>
          </p:cNvPr>
          <p:cNvSpPr>
            <a:spLocks noGrp="1"/>
          </p:cNvSpPr>
          <p:nvPr>
            <p:ph type="subTitle" idx="1"/>
          </p:nvPr>
        </p:nvSpPr>
        <p:spPr/>
        <p:txBody>
          <a:bodyPr/>
          <a:lstStyle/>
          <a:p>
            <a:r>
              <a:rPr lang="en-US" dirty="0"/>
              <a:t>Most compelling company of the 21</a:t>
            </a:r>
            <a:r>
              <a:rPr lang="en-US" baseline="30000" dirty="0"/>
              <a:t>st</a:t>
            </a:r>
            <a:r>
              <a:rPr lang="en-US" dirty="0"/>
              <a:t> century</a:t>
            </a:r>
          </a:p>
        </p:txBody>
      </p:sp>
    </p:spTree>
    <p:extLst>
      <p:ext uri="{BB962C8B-B14F-4D97-AF65-F5344CB8AC3E}">
        <p14:creationId xmlns:p14="http://schemas.microsoft.com/office/powerpoint/2010/main" val="385324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5D29-2D18-81E6-37C0-C864CDEF7A7E}"/>
              </a:ext>
            </a:extLst>
          </p:cNvPr>
          <p:cNvSpPr>
            <a:spLocks noGrp="1"/>
          </p:cNvSpPr>
          <p:nvPr>
            <p:ph type="title"/>
          </p:nvPr>
        </p:nvSpPr>
        <p:spPr/>
        <p:txBody>
          <a:bodyPr/>
          <a:lstStyle/>
          <a:p>
            <a:r>
              <a:rPr lang="en-US" dirty="0"/>
              <a:t>GROUP MEMBERS</a:t>
            </a:r>
          </a:p>
        </p:txBody>
      </p:sp>
      <p:sp>
        <p:nvSpPr>
          <p:cNvPr id="3" name="Content Placeholder 2">
            <a:extLst>
              <a:ext uri="{FF2B5EF4-FFF2-40B4-BE49-F238E27FC236}">
                <a16:creationId xmlns:a16="http://schemas.microsoft.com/office/drawing/2014/main" id="{412901B0-4F9F-A1C9-9D3D-6937952C9209}"/>
              </a:ext>
            </a:extLst>
          </p:cNvPr>
          <p:cNvSpPr>
            <a:spLocks noGrp="1"/>
          </p:cNvSpPr>
          <p:nvPr>
            <p:ph idx="1"/>
          </p:nvPr>
        </p:nvSpPr>
        <p:spPr/>
        <p:txBody>
          <a:bodyPr/>
          <a:lstStyle/>
          <a:p>
            <a:r>
              <a:rPr lang="en-US" dirty="0"/>
              <a:t>RAJA DANISH MAJEED</a:t>
            </a:r>
          </a:p>
          <a:p>
            <a:r>
              <a:rPr lang="en-US" dirty="0"/>
              <a:t>HUMAIRA KAUSER</a:t>
            </a:r>
          </a:p>
          <a:p>
            <a:r>
              <a:rPr lang="en-US" dirty="0"/>
              <a:t>KAINAT BIBI</a:t>
            </a:r>
          </a:p>
          <a:p>
            <a:r>
              <a:rPr lang="en-US" dirty="0"/>
              <a:t>ZAINAB KHAN</a:t>
            </a:r>
          </a:p>
          <a:p>
            <a:r>
              <a:rPr lang="en-US" dirty="0"/>
              <a:t>ARSLAN AHMED</a:t>
            </a:r>
          </a:p>
        </p:txBody>
      </p:sp>
    </p:spTree>
    <p:extLst>
      <p:ext uri="{BB962C8B-B14F-4D97-AF65-F5344CB8AC3E}">
        <p14:creationId xmlns:p14="http://schemas.microsoft.com/office/powerpoint/2010/main" val="297778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257946-168E-8E7F-7469-6C3F2354D107}"/>
              </a:ext>
            </a:extLst>
          </p:cNvPr>
          <p:cNvSpPr txBox="1"/>
          <p:nvPr/>
        </p:nvSpPr>
        <p:spPr>
          <a:xfrm>
            <a:off x="2050473" y="678873"/>
            <a:ext cx="9421091" cy="6158737"/>
          </a:xfrm>
          <a:prstGeom prst="rect">
            <a:avLst/>
          </a:prstGeom>
          <a:noFill/>
        </p:spPr>
        <p:txBody>
          <a:bodyPr wrap="square" rtlCol="0">
            <a:spAutoFit/>
          </a:bodyPr>
          <a:lstStyle/>
          <a:p>
            <a:r>
              <a:rPr lang="en-US" dirty="0"/>
              <a:t>INTRODUCTION</a:t>
            </a: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Tesla is a company introduced by a billionaire Elon Musk. It is an automobile and electric vehicle company which was innovated in 2003 named as Tesla motors. It also manufactures some other electric products. Its revenues are about $81462, profits $12556 and market value $575867. The current working employees are 127855.</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vision of the Tesla company is to develop and create the most compelling cars of the 21st century. It is trying to modernize the automobile world to electric vehicles. The fuel is too expansive and in future the shortage of it is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also predicted. So, they are working on electric vehicles. Most of the cars was build and designed by Tesla company. It is not working on vehicles. It is also doing good job in solar system.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Most of the battery and solar systems in the world are designed by Tesla. The designer and developer of Tesla are very talented countries. They have provided an inclusive environment in which all people rather than religion, background, race, gender can come and do their best. Tesla designs, sell, manufacture, install and service the world’s best solar technical electric vehicles. Tesla’s mission, values and works motivates and encourage 88% of Tesla employees.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Tesla has several key objectives that guide its operations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3093170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F4278B-80FE-9E55-3FFE-F2F80B563920}"/>
              </a:ext>
            </a:extLst>
          </p:cNvPr>
          <p:cNvSpPr txBox="1"/>
          <p:nvPr/>
        </p:nvSpPr>
        <p:spPr>
          <a:xfrm>
            <a:off x="2590799" y="443345"/>
            <a:ext cx="8756073" cy="5532925"/>
          </a:xfrm>
          <a:prstGeom prst="rect">
            <a:avLst/>
          </a:prstGeom>
          <a:noFill/>
        </p:spPr>
        <p:txBody>
          <a:bodyPr wrap="square" rtlCol="0">
            <a:spAutoFit/>
          </a:bodyPr>
          <a:lstStyle/>
          <a:p>
            <a:pPr marL="342900" marR="0" lvl="0" indent="-342900" rtl="0">
              <a:lnSpc>
                <a:spcPct val="107000"/>
              </a:lnSpc>
              <a:spcBef>
                <a:spcPts val="0"/>
              </a:spcBef>
              <a:spcAft>
                <a:spcPts val="800"/>
              </a:spcAft>
              <a:buSzPts val="1000"/>
              <a:buFont typeface="Wingdings" panose="05000000000000000000" pitchFamily="2" charset="2"/>
              <a:buChar char=""/>
              <a:tabLst>
                <a:tab pos="457200" algn="l"/>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To increase the adoption of electric vehicles globally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
              <a:tabLst>
                <a:tab pos="457200" algn="l"/>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second objective is to provide the vehicles environmentally friendly in order to clean energy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
              <a:tabLst>
                <a:tab pos="457200" algn="l"/>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To expand the company's product portfolio to include a range of sustainable energy solutions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
              <a:tabLst>
                <a:tab pos="457200" algn="l"/>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To give exceptional client service and support/help</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Wingdings" panose="05000000000000000000" pitchFamily="2" charset="2"/>
              <a:buChar char=""/>
              <a:tabLst>
                <a:tab pos="457200" algn="l"/>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To maintain profitability and financial stability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Tesla's organizational structure is relatively flat, with CEO Elon Musk at the top. The company is organized into several functional areas, including engineering, design, manufacturing, sales, and customer service. Each of these areas is headed by a senior executive who reports directly to Musk</a:t>
            </a:r>
            <a:r>
              <a:rPr lang="en-US" sz="1800" kern="100" dirty="0">
                <a:effectLst/>
                <a:latin typeface="Segoe UI" panose="020B0502040204020203" pitchFamily="34" charset="0"/>
                <a:ea typeface="Times New Roman" panose="02020603050405020304" pitchFamily="18" charset="0"/>
                <a:cs typeface="Times New Roman" panose="02020603050405020304" pitchFamily="18" charset="0"/>
              </a:rPr>
              <a:t>. Tesla's manufacturing operations are vertically integrated, meaning that the company produces many of the components for its vehicles in-house. This includes batteries, drivetrains, and electronic components.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Segoe UI" panose="020B0502040204020203" pitchFamily="34" charset="0"/>
                <a:ea typeface="Times New Roman" panose="02020603050405020304" pitchFamily="18" charset="0"/>
                <a:cs typeface="Times New Roman" panose="02020603050405020304" pitchFamily="18" charset="0"/>
              </a:rPr>
              <a:t>The company also operates a network of retail stores and service centers to sell and maintain its vehicles.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6979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51ED77-6565-A8D4-940A-862A76FBEEFA}"/>
              </a:ext>
            </a:extLst>
          </p:cNvPr>
          <p:cNvSpPr txBox="1"/>
          <p:nvPr/>
        </p:nvSpPr>
        <p:spPr>
          <a:xfrm>
            <a:off x="2161308" y="651164"/>
            <a:ext cx="9019309" cy="5624232"/>
          </a:xfrm>
          <a:prstGeom prst="rect">
            <a:avLst/>
          </a:prstGeom>
          <a:noFill/>
        </p:spPr>
        <p:txBody>
          <a:bodyPr wrap="square" rtlCol="0">
            <a:spAutoFit/>
          </a:bodyPr>
          <a:lstStyle/>
          <a:p>
            <a:r>
              <a:rPr lang="en-US" dirty="0"/>
              <a:t>PRODUCTS</a:t>
            </a:r>
          </a:p>
          <a:p>
            <a:r>
              <a:rPr lang="en-US" sz="1800" kern="100" dirty="0">
                <a:effectLst/>
                <a:latin typeface="Times New Roman" panose="02020603050405020304" pitchFamily="18" charset="0"/>
                <a:ea typeface="Calibri" panose="020F0502020204030204" pitchFamily="34" charset="0"/>
              </a:rPr>
              <a:t>Tesla develop and deploy autonomy at large scale in vehicles and robots. In 2008, Tesla introduced first electric car, the </a:t>
            </a:r>
            <a:r>
              <a:rPr lang="en-US" sz="1800" b="1" kern="100" dirty="0">
                <a:effectLst/>
                <a:latin typeface="Times New Roman" panose="02020603050405020304" pitchFamily="18" charset="0"/>
                <a:ea typeface="Calibri" panose="020F0502020204030204" pitchFamily="34" charset="0"/>
              </a:rPr>
              <a:t>Electric Roadster.</a:t>
            </a:r>
            <a:r>
              <a:rPr lang="en-US" sz="1800" kern="100" dirty="0">
                <a:effectLst/>
                <a:latin typeface="Times New Roman" panose="02020603050405020304" pitchFamily="18" charset="0"/>
                <a:ea typeface="Calibri" panose="020F0502020204030204" pitchFamily="34" charset="0"/>
              </a:rPr>
              <a:t> The most innovative products of Tesla are electric cars, autonomous vehicles and solar roofing systems. The company famous products are </a:t>
            </a:r>
            <a:r>
              <a:rPr lang="en-US" sz="1800" b="1" kern="100" dirty="0">
                <a:effectLst/>
                <a:latin typeface="Times New Roman" panose="02020603050405020304" pitchFamily="18" charset="0"/>
                <a:ea typeface="Calibri" panose="020F0502020204030204" pitchFamily="34" charset="0"/>
              </a:rPr>
              <a:t>Model X,</a:t>
            </a:r>
            <a:r>
              <a:rPr lang="en-US" sz="1800" kern="100" dirty="0">
                <a:effectLst/>
                <a:latin typeface="Times New Roman" panose="02020603050405020304" pitchFamily="18" charset="0"/>
                <a:ea typeface="Calibri" panose="020F0502020204030204" pitchFamily="34" charset="0"/>
              </a:rPr>
              <a:t> </a:t>
            </a:r>
            <a:r>
              <a:rPr lang="en-US" sz="1800" b="1" kern="100" dirty="0">
                <a:effectLst/>
                <a:latin typeface="Times New Roman" panose="02020603050405020304" pitchFamily="18" charset="0"/>
                <a:ea typeface="Calibri" panose="020F0502020204030204" pitchFamily="34" charset="0"/>
              </a:rPr>
              <a:t>Tesla Semi</a:t>
            </a:r>
            <a:r>
              <a:rPr lang="en-US" sz="1800" kern="100" dirty="0">
                <a:effectLst/>
                <a:latin typeface="Times New Roman" panose="02020603050405020304" pitchFamily="18" charset="0"/>
                <a:ea typeface="Calibri" panose="020F0502020204030204" pitchFamily="34" charset="0"/>
              </a:rPr>
              <a:t>, </a:t>
            </a:r>
            <a:r>
              <a:rPr lang="en-US" sz="1800" b="1" kern="100" dirty="0">
                <a:effectLst/>
                <a:latin typeface="Times New Roman" panose="02020603050405020304" pitchFamily="18" charset="0"/>
                <a:ea typeface="Calibri" panose="020F0502020204030204" pitchFamily="34" charset="0"/>
              </a:rPr>
              <a:t>Cyber Truck</a:t>
            </a:r>
            <a:r>
              <a:rPr lang="en-US" sz="1800" kern="100" dirty="0">
                <a:effectLst/>
                <a:latin typeface="Times New Roman" panose="02020603050405020304" pitchFamily="18" charset="0"/>
                <a:ea typeface="Calibri" panose="020F0502020204030204" pitchFamily="34" charset="0"/>
              </a:rPr>
              <a:t>, </a:t>
            </a:r>
            <a:r>
              <a:rPr lang="en-US" sz="1800" b="1" kern="100" dirty="0">
                <a:effectLst/>
                <a:latin typeface="Times New Roman" panose="02020603050405020304" pitchFamily="18" charset="0"/>
                <a:ea typeface="Calibri" panose="020F0502020204030204" pitchFamily="34" charset="0"/>
              </a:rPr>
              <a:t>Model S</a:t>
            </a:r>
            <a:r>
              <a:rPr lang="en-US" sz="1800" kern="100" dirty="0">
                <a:effectLst/>
                <a:latin typeface="Times New Roman" panose="02020603050405020304" pitchFamily="18" charset="0"/>
                <a:ea typeface="Calibri" panose="020F0502020204030204" pitchFamily="34" charset="0"/>
              </a:rPr>
              <a:t>, </a:t>
            </a:r>
            <a:r>
              <a:rPr lang="en-US" sz="1800" b="1" kern="100" dirty="0">
                <a:effectLst/>
                <a:latin typeface="Times New Roman" panose="02020603050405020304" pitchFamily="18" charset="0"/>
                <a:ea typeface="Calibri" panose="020F0502020204030204" pitchFamily="34" charset="0"/>
              </a:rPr>
              <a:t>Model Y</a:t>
            </a:r>
            <a:r>
              <a:rPr lang="en-US" sz="1800" kern="100" dirty="0">
                <a:effectLst/>
                <a:latin typeface="Times New Roman" panose="02020603050405020304" pitchFamily="18" charset="0"/>
                <a:ea typeface="Calibri" panose="020F0502020204030204" pitchFamily="34" charset="0"/>
              </a:rPr>
              <a:t> etc. Currently Tesla is working on my new products as, electric trucks, full self-driving</a:t>
            </a:r>
          </a:p>
          <a:p>
            <a:r>
              <a:rPr lang="en-US" sz="1800" kern="100" dirty="0">
                <a:effectLst/>
                <a:latin typeface="Times New Roman" panose="02020603050405020304" pitchFamily="18" charset="0"/>
                <a:ea typeface="Calibri" panose="020F0502020204030204" pitchFamily="34" charset="0"/>
              </a:rPr>
              <a:t>is using advanced AI technologies to enhance its products day by day and producing and selling different products </a:t>
            </a:r>
            <a:r>
              <a:rPr lang="en-US" sz="1800" kern="100" dirty="0" err="1">
                <a:effectLst/>
                <a:latin typeface="Times New Roman" panose="02020603050405020304" pitchFamily="18" charset="0"/>
                <a:ea typeface="Calibri" panose="020F0502020204030204" pitchFamily="34" charset="0"/>
              </a:rPr>
              <a:t>successfullyTesla</a:t>
            </a:r>
            <a:r>
              <a:rPr lang="en-US" sz="1800" kern="100" dirty="0">
                <a:effectLst/>
                <a:latin typeface="Times New Roman" panose="02020603050405020304" pitchFamily="18" charset="0"/>
                <a:ea typeface="Calibri" panose="020F0502020204030204" pitchFamily="34" charset="0"/>
              </a:rPr>
              <a:t> provides many different services to its customers for all its products.  These all services are offered by tesla 24/7. Tesla designed many different apps for making customer services approachable for the customers</a:t>
            </a:r>
            <a:endParaRPr lang="en-US" kern="100" dirty="0">
              <a:latin typeface="Times New Roman" panose="02020603050405020304" pitchFamily="18" charset="0"/>
              <a:ea typeface="Calibri" panose="020F0502020204030204" pitchFamily="34"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the case of an emergency, roadside compensation is available. Customers can contact roadside team using tesla app</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also provides the services through service centers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The services provided at the service centers are: collision repairs, stuff and dents, structural repairs.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If the product needs an immediate action, then tesla technicians also provide customer services through mobile and sometimes completely repairs the product without visit to the service center.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9654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EBE02-5BCC-AB67-44A9-57ABFC5A7572}"/>
              </a:ext>
            </a:extLst>
          </p:cNvPr>
          <p:cNvSpPr txBox="1"/>
          <p:nvPr/>
        </p:nvSpPr>
        <p:spPr>
          <a:xfrm>
            <a:off x="2008909" y="415636"/>
            <a:ext cx="9518073" cy="3439018"/>
          </a:xfrm>
          <a:prstGeom prst="rect">
            <a:avLst/>
          </a:prstGeom>
          <a:noFill/>
        </p:spPr>
        <p:txBody>
          <a:bodyPr wrap="square" rtlCol="0">
            <a:spAutoFit/>
          </a:bodyPr>
          <a:lstStyle/>
          <a:p>
            <a:r>
              <a:rPr lang="en-US" dirty="0"/>
              <a:t>CORPORATE SOCIAL RESPONSIBILITIES</a:t>
            </a: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RESPONSIBILITIES TOWARDS CUSTOMER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RESPONSIBILITIES TOWARDS INVESTORS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RESPONSIBILITIES TOWARDS ENVIRONMENT</a:t>
            </a:r>
          </a:p>
          <a:p>
            <a:pPr>
              <a:lnSpc>
                <a:spcPct val="107000"/>
              </a:lnSpc>
              <a:spcAft>
                <a:spcPts val="800"/>
              </a:spcAft>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CONTRIBUTING SOCIALLY</a:t>
            </a:r>
          </a:p>
          <a:p>
            <a:pPr>
              <a:lnSpc>
                <a:spcPct val="107000"/>
              </a:lnSpc>
              <a:spcAft>
                <a:spcPts val="800"/>
              </a:spcAft>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electric vehicle which has the highest global sales</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584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FF09D7-74DA-6AC9-92E2-FCEB285F77F8}"/>
              </a:ext>
            </a:extLst>
          </p:cNvPr>
          <p:cNvSpPr txBox="1"/>
          <p:nvPr/>
        </p:nvSpPr>
        <p:spPr>
          <a:xfrm>
            <a:off x="2133599" y="346363"/>
            <a:ext cx="9545783" cy="6505242"/>
          </a:xfrm>
          <a:prstGeom prst="rect">
            <a:avLst/>
          </a:prstGeom>
          <a:noFill/>
        </p:spPr>
        <p:txBody>
          <a:bodyPr wrap="square" rtlCol="0">
            <a:spAutoFit/>
          </a:bodyPr>
          <a:lstStyle/>
          <a:p>
            <a:r>
              <a:rPr lang="en-US" dirty="0"/>
              <a:t>FINANCIAL INDICATORS</a:t>
            </a: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Tesla's financial performance has been the subject of much discussion and debate. The company has experienced significant growth in recent years, but it has also faced challenges related to profitability and cash flow.</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In 2020, Tesla reported profit of $31.5 billion, an increase of 28 percent compared to the former time. The company also told a total income of 721 million dollars, marking its fifth successive quarter of profitability. Tesla's automotive sales accounted for the majority of its revenue, with the remaining revenue coming from its energy generation and storage business.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Despite its revenue growth and profitability, Tesla has faced challenges related to cash flow. The company had also spent too much money on exploration and development, as well as in building new factories and expanding its Supercharger network. This has led to negative cash inflow in some quarters, and the company has relied on raising capital through stock offerings and debt to fund its growth.</a:t>
            </a:r>
          </a:p>
          <a:p>
            <a:pPr marL="0" marR="0">
              <a:lnSpc>
                <a:spcPct val="107000"/>
              </a:lnSpc>
              <a:spcBef>
                <a:spcPts val="0"/>
              </a:spcBef>
              <a:spcAft>
                <a:spcPts val="800"/>
              </a:spcAft>
              <a:tabLst>
                <a:tab pos="1005840" algn="l"/>
              </a:tabLst>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12849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D8493-967D-C016-7292-D2CB46E1185E}"/>
              </a:ext>
            </a:extLst>
          </p:cNvPr>
          <p:cNvSpPr txBox="1"/>
          <p:nvPr/>
        </p:nvSpPr>
        <p:spPr>
          <a:xfrm>
            <a:off x="2064327" y="360218"/>
            <a:ext cx="9282546" cy="4044441"/>
          </a:xfrm>
          <a:prstGeom prst="rect">
            <a:avLst/>
          </a:prstGeom>
          <a:noFill/>
        </p:spPr>
        <p:txBody>
          <a:bodyPr wrap="square" rtlCol="0">
            <a:spAutoFit/>
          </a:bodyPr>
          <a:lstStyle/>
          <a:p>
            <a:pPr marR="0" lvl="0">
              <a:lnSpc>
                <a:spcPct val="107000"/>
              </a:lnSpc>
              <a:spcBef>
                <a:spcPts val="200"/>
              </a:spcBef>
              <a:spcAft>
                <a:spcPts val="0"/>
              </a:spcAft>
            </a:pPr>
            <a:r>
              <a:rPr lang="en-US" b="1"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COMPETITORS</a:t>
            </a: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conventional automakers like Ford and Honda.</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Top 3 Rivals to Tesla</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 rivals in China</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ESSENTIAL POINTS</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Lighting Motors</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Next on our list of the best electric car manufacturers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NIO</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Rivian</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electric car market: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200"/>
              </a:spcBef>
              <a:spcAft>
                <a:spcPts val="0"/>
              </a:spcAft>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top-selling electric vehicles right now in Germany </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Tesla's rivals in Europe</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195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FA608C-AF0D-B667-872F-C97F0A7B42E0}"/>
              </a:ext>
            </a:extLst>
          </p:cNvPr>
          <p:cNvSpPr txBox="1"/>
          <p:nvPr/>
        </p:nvSpPr>
        <p:spPr>
          <a:xfrm>
            <a:off x="1981199" y="346364"/>
            <a:ext cx="9518073" cy="3131242"/>
          </a:xfrm>
          <a:prstGeom prst="rect">
            <a:avLst/>
          </a:prstGeom>
          <a:noFill/>
        </p:spPr>
        <p:txBody>
          <a:bodyPr wrap="square" rtlCol="0">
            <a:spAutoFit/>
          </a:bodyPr>
          <a:lstStyle/>
          <a:p>
            <a:r>
              <a:rPr lang="en-US" dirty="0"/>
              <a:t>CONTRIBUTION OF TESLA IN NATIONAL ECONOMY</a:t>
            </a:r>
          </a:p>
          <a:p>
            <a:pPr marL="342900" marR="0" lvl="0" indent="-342900" rtl="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 benefits provide to society</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Elon Musk changes brought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 Tesla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 contribute that was most significant</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 impact the world</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What makes Tesla interesting</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200"/>
              </a:spcBef>
              <a:spcAft>
                <a:spcPts val="0"/>
              </a:spcAft>
              <a:buFont typeface="Symbol" panose="05050102010706020507" pitchFamily="18" charset="2"/>
              <a:buChar char=""/>
            </a:pPr>
            <a:r>
              <a:rPr lang="en-US"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Tesla's executive summary</a:t>
            </a:r>
            <a:endParaRPr lang="en-US" sz="18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57136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8D0CFA-E9E7-001C-09E1-F55AF58B26F3}"/>
              </a:ext>
            </a:extLst>
          </p:cNvPr>
          <p:cNvSpPr txBox="1"/>
          <p:nvPr/>
        </p:nvSpPr>
        <p:spPr>
          <a:xfrm>
            <a:off x="1925782" y="221673"/>
            <a:ext cx="9642763" cy="5024709"/>
          </a:xfrm>
          <a:prstGeom prst="rect">
            <a:avLst/>
          </a:prstGeom>
          <a:noFill/>
        </p:spPr>
        <p:txBody>
          <a:bodyPr wrap="square" rtlCol="0">
            <a:spAutoFit/>
          </a:bodyPr>
          <a:lstStyle/>
          <a:p>
            <a:pPr marL="342900" marR="0" lvl="0" indent="-342900">
              <a:lnSpc>
                <a:spcPct val="107000"/>
              </a:lnSpc>
              <a:spcBef>
                <a:spcPts val="1200"/>
              </a:spcBef>
              <a:spcAft>
                <a:spcPts val="0"/>
              </a:spcAft>
              <a:buFont typeface="+mj-lt"/>
              <a:buAutoNum type="arabicPeriod"/>
            </a:pPr>
            <a:r>
              <a:rPr lang="en-US" sz="1800" b="1" u="none" strike="noStrike"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Impact of Political Environment on Firm's Performance</a:t>
            </a:r>
            <a:endParaRPr lang="en-US" sz="1800" b="1" u="none" strike="noStrike"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a:effectLst/>
                <a:latin typeface="Times New Roman" panose="02020603050405020304" pitchFamily="18" charset="0"/>
                <a:ea typeface="Times New Roman" panose="02020603050405020304" pitchFamily="18" charset="0"/>
                <a:cs typeface="Times New Roman" panose="02020603050405020304" pitchFamily="18" charset="0"/>
              </a:rPr>
              <a:t>The political environment can have a significant impact on Tesla's performance. The company is subject to various regulations, policies, and incentives at the local, state, and federal levels, which can affect its operations and profitability. For example, the US government has introduced various policies and incentives aimed at promoting the adoption of electric vehicles, which has benefited Tesla. In 2020, the US government extended tax credits for electric vehicles, which was a significant boost for Tesla and the electric vehicle industry as a whole.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a:effectLst/>
                <a:latin typeface="Times New Roman" panose="02020603050405020304" pitchFamily="18" charset="0"/>
                <a:ea typeface="Times New Roman" panose="02020603050405020304" pitchFamily="18" charset="0"/>
                <a:cs typeface="Times New Roman" panose="02020603050405020304" pitchFamily="18" charset="0"/>
              </a:rPr>
              <a:t>However, political factors can also negatively impact Tesla's performance. For instance, the Trump administration's decision to withdraw from the Paris Agreement on climate change was a setback for the renewable energy industry, including electric vehicles. Furthermore, Tesla has faced legal and regulatory challenges in some US states due to its direct-to-consumer sales model, which is not favored by some traditional auto dealerships.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a:effectLst/>
                <a:latin typeface="Times New Roman" panose="02020603050405020304" pitchFamily="18" charset="0"/>
                <a:ea typeface="Times New Roman" panose="02020603050405020304" pitchFamily="18" charset="0"/>
                <a:cs typeface="Times New Roman" panose="02020603050405020304" pitchFamily="18" charset="0"/>
              </a:rPr>
              <a:t>Tesla has also faced political challenges in other countries. For example, the Chinese government has placed restrictions on foreign automakers, which may impact Tesla's ability to operate in the country. The company has also faced challenges in Germany, where there have been protests against the construction of its factory in Grünheide.</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555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7A05DC-7CC7-CAF2-3856-E20B4E21C53E}"/>
              </a:ext>
            </a:extLst>
          </p:cNvPr>
          <p:cNvSpPr txBox="1"/>
          <p:nvPr/>
        </p:nvSpPr>
        <p:spPr>
          <a:xfrm>
            <a:off x="2161309" y="360218"/>
            <a:ext cx="9033164" cy="6610592"/>
          </a:xfrm>
          <a:prstGeom prst="rect">
            <a:avLst/>
          </a:prstGeom>
          <a:noFill/>
        </p:spPr>
        <p:txBody>
          <a:bodyPr wrap="square" rtlCol="0">
            <a:spAutoFit/>
          </a:bodyPr>
          <a:lstStyle/>
          <a:p>
            <a:pPr marL="342900" marR="0" lvl="0" indent="-342900">
              <a:lnSpc>
                <a:spcPct val="107000"/>
              </a:lnSpc>
              <a:spcBef>
                <a:spcPts val="1200"/>
              </a:spcBef>
              <a:spcAft>
                <a:spcPts val="0"/>
              </a:spcAft>
              <a:buFont typeface="+mj-lt"/>
              <a:buAutoNum type="arabicPeriod"/>
            </a:pPr>
            <a:r>
              <a:rPr lang="en-US" sz="1800" b="1"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Findings:</a:t>
            </a:r>
            <a:endParaRPr lang="en-US" sz="1800" b="1" u="none" strike="noStrike"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By looking at overall performance of Tesla Motors throughout the year 2022 it earned 51% profit which was 31% in 2021. This is the rapid increase in its performance. Even BMW or Mercedes do not get such a high profit margin. For most car companies it is in the 15%_20% range in fact this profit can only be earn by extreme luxury brands like Ferrari and Porsche.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The main source of revenue for Tesla Motors is Automotives and servicing the cars. Tesla had been a loss-making company up till 2019. For the very first time in 2020 Tesla made its first net profit. From our point of view Tesla’s performance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has been impressive. The company has seen sufficient growth in revenue and profitability in recent years as the demand for electric vehicle increased. Its overall performance observed as it does not contact any dealership for selling its products. You have to contact directly to company or you can purchase online. This reduces your cost on any third party. Its advantage is that Tesla has control of process from start to end. For this purpose, they have to hire more employees due to which more people can get opportunity to earn and this improves its overall performance in our view. Additionally, we observed that Tesla’s stock price has seen remarkable growth without any advertising and marketing. Overall tesla motor has been a disruptive force in automotive industry, transforming the way people think about cars and energy. The company’s innovative products, financial performance and focus on sustainability have positioned it as a leader in industry and a model for other companies to follow. Its value increases in our view when we came to know that Tesla costs $0 in advertising and marketing.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3835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894003-216B-7FBE-A42A-D6F72DD4DE19}"/>
              </a:ext>
            </a:extLst>
          </p:cNvPr>
          <p:cNvSpPr txBox="1"/>
          <p:nvPr/>
        </p:nvSpPr>
        <p:spPr>
          <a:xfrm>
            <a:off x="1856508" y="166254"/>
            <a:ext cx="9407237" cy="6131871"/>
          </a:xfrm>
          <a:prstGeom prst="rect">
            <a:avLst/>
          </a:prstGeom>
          <a:noFill/>
        </p:spPr>
        <p:txBody>
          <a:bodyPr wrap="square" rtlCol="0">
            <a:spAutoFit/>
          </a:bodyPr>
          <a:lstStyle/>
          <a:p>
            <a:pPr marL="0" marR="0">
              <a:lnSpc>
                <a:spcPct val="107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question here arises that why tesla is not reaching the level of companies like General Motors or Ford despite having such a large profit margin? The answer is its cost on research and development. It’s all cost go in research and development areas as it spends billions of dollars in it. This is decreasing its value and its manufacturing cost is getting higher than selling cost</a:t>
            </a:r>
          </a:p>
          <a:p>
            <a:pPr marL="342900" marR="0" lvl="0" indent="-342900">
              <a:lnSpc>
                <a:spcPct val="107000"/>
              </a:lnSpc>
              <a:spcBef>
                <a:spcPts val="1200"/>
              </a:spcBef>
              <a:spcAft>
                <a:spcPts val="0"/>
              </a:spcAft>
              <a:buFont typeface="+mj-lt"/>
              <a:buAutoNum type="arabicPeriod"/>
            </a:pPr>
            <a:r>
              <a:rPr lang="en-US" sz="1800" b="1" u="none" strike="noStrike"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Conclusion</a:t>
            </a:r>
            <a:endParaRPr lang="en-US" sz="1800" b="1" u="none" strike="noStrike"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In conclusion, Tesla is a company that has revolutionized the automotive industry with its innovative electric cars and cutting-edge technology. With a clear vision and mission, the company has set itself apart from its competitors and has managed to become a market leader in a short period. Tesla's success is due to its focus on customer satisfaction, quality, innovation, and sustainability.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The company has also made significant contributions to the national economy, creating job opportunities, boosting economic growth, and promoting the use of renewable energy sources. Tesla's CSR efforts have also been commendable, with the company taking several initiatives to promote sustainability, reduce carbon emissions, and address social issues.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tabLst>
                <a:tab pos="1005840" algn="l"/>
              </a:tabLst>
            </a:pPr>
            <a:r>
              <a:rPr 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rPr>
              <a:t>However, the company has faced several challenges related to its financial performance, production capacity, supply chain management, and safety concerns. The impact of the political environment on Tesla's performance has also been significant, with government policies and regulations affecting the company's operations and profitability.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1200"/>
              </a:spcBef>
              <a:spcAft>
                <a:spcPts val="0"/>
              </a:spcAft>
              <a:buFont typeface="+mj-lt"/>
              <a:buAutoNum type="arabicPeriod"/>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0774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1B837B-4CE1-BB68-21C6-E269BAA7E781}"/>
              </a:ext>
            </a:extLst>
          </p:cNvPr>
          <p:cNvSpPr txBox="1"/>
          <p:nvPr/>
        </p:nvSpPr>
        <p:spPr>
          <a:xfrm>
            <a:off x="2189018" y="277091"/>
            <a:ext cx="9351818" cy="5680145"/>
          </a:xfrm>
          <a:prstGeom prst="rect">
            <a:avLst/>
          </a:prstGeom>
          <a:noFill/>
        </p:spPr>
        <p:txBody>
          <a:bodyPr wrap="square" rtlCol="0">
            <a:spAutoFit/>
          </a:bodyPr>
          <a:lstStyle/>
          <a:p>
            <a:pPr marL="0" marR="0">
              <a:lnSpc>
                <a:spcPct val="107000"/>
              </a:lnSpc>
              <a:spcBef>
                <a:spcPts val="0"/>
              </a:spcBef>
              <a:spcAft>
                <a:spcPts val="800"/>
              </a:spcAft>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awareness of electric vehicles. The company should try focusing on spending some of their funds on more supercharger stations in these areas.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introducing more affordable models, Tesla can tap into a larger market and can have largest market share.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Tesla should develop new products. As tesla is primarily known for its electric cars and Automotives so investing in the development of new products like Electric trucks and buses, could help expand the company’s market share and revenue streams.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Also, many of the central states in US have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little to no charging stations and a lower </a:t>
            </a:r>
          </a:p>
          <a:p>
            <a:pPr marL="0" marR="0">
              <a:lnSpc>
                <a:spcPct val="107000"/>
              </a:lnSpc>
              <a:spcBef>
                <a:spcPts val="0"/>
              </a:spcBef>
              <a:spcAft>
                <a:spcPts val="800"/>
              </a:spcAft>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Tesla already has a great competition so people will definitely prefer other companies like Ford and Ferrari. By </a:t>
            </a:r>
          </a:p>
          <a:p>
            <a:pPr marL="342900" marR="0" lvl="0" indent="-342900">
              <a:lnSpc>
                <a:spcPct val="107000"/>
              </a:lnSpc>
              <a:spcBef>
                <a:spcPts val="1200"/>
              </a:spcBef>
              <a:spcAft>
                <a:spcPts val="0"/>
              </a:spcAft>
              <a:buFont typeface="+mj-lt"/>
              <a:buAutoNum type="arabicPeriod"/>
            </a:pPr>
            <a:r>
              <a:rPr lang="en-US" sz="1800" b="1" u="none" strike="noStrike"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Suggestions:</a:t>
            </a:r>
            <a:endParaRPr lang="en-US" sz="1800" b="1" u="none" strike="noStrike"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457200" marR="0">
              <a:lnSpc>
                <a:spcPct val="107000"/>
              </a:lnSpc>
              <a:spcBef>
                <a:spcPts val="0"/>
              </a:spcBef>
              <a:spcAft>
                <a:spcPts val="0"/>
              </a:spcAft>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As we all know how much Tesla improved during the year 2020. It is still making progress but here are some suggestions regarding improvement and innovations.</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a:effectLst/>
                <a:latin typeface="Times New Roman" panose="02020603050405020304" pitchFamily="18" charset="0"/>
                <a:ea typeface="Calibri" panose="020F0502020204030204" pitchFamily="34" charset="0"/>
                <a:cs typeface="Times New Roman" panose="02020603050405020304" pitchFamily="18" charset="0"/>
              </a:rPr>
              <a:t> First of all, it should expand its product line to add more and more affordable products(vehicles) that can be purchased by a wider range of consumers. Tesla’s current offerings tend to be extreme luxury vehicles, which can be very costly for many people. As</a:t>
            </a:r>
            <a:endParaRPr lang="en-US" dirty="0"/>
          </a:p>
        </p:txBody>
      </p:sp>
    </p:spTree>
    <p:extLst>
      <p:ext uri="{BB962C8B-B14F-4D97-AF65-F5344CB8AC3E}">
        <p14:creationId xmlns:p14="http://schemas.microsoft.com/office/powerpoint/2010/main" val="202884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F26FBB-5F63-6009-A44B-97F245E5EA48}"/>
              </a:ext>
            </a:extLst>
          </p:cNvPr>
          <p:cNvSpPr txBox="1"/>
          <p:nvPr/>
        </p:nvSpPr>
        <p:spPr>
          <a:xfrm>
            <a:off x="2424544" y="540325"/>
            <a:ext cx="9254837" cy="6330259"/>
          </a:xfrm>
          <a:prstGeom prst="rect">
            <a:avLst/>
          </a:prstGeom>
          <a:noFill/>
        </p:spPr>
        <p:txBody>
          <a:bodyPr wrap="square" rtlCol="0">
            <a:spAutoFit/>
          </a:bodyPr>
          <a:lstStyle/>
          <a:p>
            <a:pPr marL="342900" marR="0" lvl="0" indent="-342900" rtl="0">
              <a:lnSpc>
                <a:spcPct val="107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As Tesla already has a great competition so people will definitely prefer other companies like Ford and Ferrari. By introducing more affordable models, Tesla can tap into a larger market and can have largest market share.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Tesla should develop new products. As tesla is primarily known for its electric cars and Automotives so investing in the development of new products like Electric trucks and buses, could help expand the company’s market share and revenue streams.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Also, many of the central states in US have little to no charging stations and a lower awareness of electric vehicles. The company should try focusing on spending some of their funds on more supercharger stations in these areas.</a:t>
            </a:r>
          </a:p>
          <a:p>
            <a:pPr marL="342900" marR="0" lvl="0" indent="-342900">
              <a:lnSpc>
                <a:spcPct val="107000"/>
              </a:lnSpc>
              <a:spcBef>
                <a:spcPts val="0"/>
              </a:spcBef>
              <a:spcAft>
                <a:spcPts val="800"/>
              </a:spcAft>
              <a:buFont typeface="Symbol" panose="05050102010706020507" pitchFamily="18" charset="2"/>
              <a:buChar char=""/>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pP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86528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66</TotalTime>
  <Words>2036</Words>
  <Application>Microsoft Office PowerPoint</Application>
  <PresentationFormat>Widescreen</PresentationFormat>
  <Paragraphs>96</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Corbel</vt:lpstr>
      <vt:lpstr>Segoe UI</vt:lpstr>
      <vt:lpstr>Symbol</vt:lpstr>
      <vt:lpstr>Times New Roman</vt:lpstr>
      <vt:lpstr>Wingdings</vt:lpstr>
      <vt:lpstr>Parallax</vt:lpstr>
      <vt:lpstr>TESLA MOTORS</vt:lpstr>
      <vt:lpstr>GROUP MEMBERS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TESLA MOTORS</dc:title>
  <dc:creator>zainab khan</dc:creator>
  <cp:lastModifiedBy>zainab khan</cp:lastModifiedBy>
  <cp:revision>7</cp:revision>
  <dcterms:created xsi:type="dcterms:W3CDTF">2023-05-23T10:14:04Z</dcterms:created>
  <dcterms:modified xsi:type="dcterms:W3CDTF">2023-05-23T11:29:12Z</dcterms:modified>
</cp:coreProperties>
</file>